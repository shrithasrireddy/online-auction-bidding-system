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"/>
      <p:regular r:id="rId201314"/>
    </p:embeddedFont>
    <p:embeddedFont>
      <p:font typeface="Bitter Bold"/>
      <p:regular r:id="rId201315"/>
    </p:embeddedFont>
    <p:embeddedFont>
      <p:font typeface="Outfi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1.png"/><Relationship Id="rId14" Type="http://schemas.openxmlformats.org/officeDocument/2006/relationships/image" Target="../media/image-5-12.svg"/><Relationship Id="rId15" Type="http://schemas.openxmlformats.org/officeDocument/2006/relationships/image" Target="../media/image-5-11.png"/><Relationship Id="rId16" Type="http://schemas.openxmlformats.org/officeDocument/2006/relationships/image" Target="../media/image-5-12.svg"/><Relationship Id="rId17" Type="http://schemas.openxmlformats.org/officeDocument/2006/relationships/image" Target="../media/image-5-11.png"/><Relationship Id="rId18" Type="http://schemas.openxmlformats.org/officeDocument/2006/relationships/image" Target="../media/image-5-12.svg"/><Relationship Id="rId19" Type="http://schemas.openxmlformats.org/officeDocument/2006/relationships/image" Target="../media/image-5-11.png"/><Relationship Id="rId20" Type="http://schemas.openxmlformats.org/officeDocument/2006/relationships/image" Target="../media/image-5-12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3-1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Online Auction &amp; Bidding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Java Object-Oriented Programming Project1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721420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Introduction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428254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Online Auction &amp; Bidding System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is a digital platform that allows users to participate in auctions electronically.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61475" y="2193826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Points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2581374"/>
            <a:ext cx="2952478" cy="2853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Users can register and log into the system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Administrators can create and manage auctions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Users can view available auction items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Users can place bids on items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System automatically tracks the highest bid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Highest valid bidder becomes the winner when auction closes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896520" y="2057301"/>
            <a:ext cx="3183850" cy="4079280"/>
          </a:xfrm>
          <a:prstGeom prst="roundRect">
            <a:avLst>
              <a:gd name="adj" fmla="val 757"/>
            </a:avLst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4057152" y="2193826"/>
            <a:ext cx="28625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 Journey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057152" y="2598440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57152" y="2852341"/>
            <a:ext cx="2862588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1" name="Text 8"/>
          <p:cNvSpPr/>
          <p:nvPr/>
        </p:nvSpPr>
        <p:spPr>
          <a:xfrm>
            <a:off x="4057152" y="2970709"/>
            <a:ext cx="28625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Register / Login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057152" y="3478709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57152" y="3732609"/>
            <a:ext cx="2862588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4" name="Text 11"/>
          <p:cNvSpPr/>
          <p:nvPr/>
        </p:nvSpPr>
        <p:spPr>
          <a:xfrm>
            <a:off x="4057152" y="3850977"/>
            <a:ext cx="28625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Browse Auctions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057152" y="4358977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57152" y="4612878"/>
            <a:ext cx="2862588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7" name="Text 14"/>
          <p:cNvSpPr/>
          <p:nvPr/>
        </p:nvSpPr>
        <p:spPr>
          <a:xfrm>
            <a:off x="4057152" y="4731246"/>
            <a:ext cx="28625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Place Bid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057152" y="5239246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57152" y="5493147"/>
            <a:ext cx="2862588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0" name="Text 17"/>
          <p:cNvSpPr/>
          <p:nvPr/>
        </p:nvSpPr>
        <p:spPr>
          <a:xfrm>
            <a:off x="4057152" y="5611515"/>
            <a:ext cx="28625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Highest Bid → Winner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234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Problem Statement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454" y="2399010"/>
            <a:ext cx="4523766" cy="25635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27181" y="1695847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Traditional Auction Limitations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7181" y="1977628"/>
            <a:ext cx="3609289" cy="7049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13510" y="2113161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Time-Consuming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113510" y="2384921"/>
            <a:ext cx="32874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Manual bidding takes significantly more time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7181" y="2762349"/>
            <a:ext cx="3609289" cy="70494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13510" y="2897882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Error-Prone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113510" y="3169642"/>
            <a:ext cx="32874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Recording bids manually causes mistakes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7181" y="3547070"/>
            <a:ext cx="3609289" cy="70494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13510" y="3682603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Limited Access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113510" y="3954363"/>
            <a:ext cx="32874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Physical auctions restrict participation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7181" y="4331791"/>
            <a:ext cx="3609289" cy="70494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113510" y="4467324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Inefficient Tracking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8113510" y="4739084"/>
            <a:ext cx="32874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Managing multiple bidders is complicated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7927181" y="5126534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183A13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0011" y="5250061"/>
            <a:ext cx="153488" cy="12283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26328" y="5229027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Proposed Solution: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 Java-based Online Auction &amp; Bidding System — Automated → Organized → Faster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564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Project Objectives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560016"/>
            <a:ext cx="5373851" cy="1403449"/>
          </a:xfrm>
          <a:prstGeom prst="roundRect">
            <a:avLst>
              <a:gd name="adj" fmla="val 1616"/>
            </a:avLst>
          </a:prstGeom>
          <a:solidFill>
            <a:srgbClr val="3B3C3E"/>
          </a:solidFill>
          <a:ln/>
        </p:spPr>
      </p:sp>
      <p:sp>
        <p:nvSpPr>
          <p:cNvPr id="4" name="Shape 2"/>
          <p:cNvSpPr/>
          <p:nvPr/>
        </p:nvSpPr>
        <p:spPr>
          <a:xfrm>
            <a:off x="812680" y="1711226"/>
            <a:ext cx="453617" cy="453628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395" y="1835944"/>
            <a:ext cx="204088" cy="2040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680" y="2285802"/>
            <a:ext cx="50714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 Management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680" y="2594570"/>
            <a:ext cx="50714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Allow users to register and securely log into the system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56270" y="1560016"/>
            <a:ext cx="5373950" cy="1403449"/>
          </a:xfrm>
          <a:prstGeom prst="roundRect">
            <a:avLst>
              <a:gd name="adj" fmla="val 1616"/>
            </a:avLst>
          </a:prstGeom>
          <a:solidFill>
            <a:srgbClr val="3B3C3E"/>
          </a:solidFill>
          <a:ln/>
        </p:spPr>
      </p:sp>
      <p:sp>
        <p:nvSpPr>
          <p:cNvPr id="9" name="Shape 6"/>
          <p:cNvSpPr/>
          <p:nvPr/>
        </p:nvSpPr>
        <p:spPr>
          <a:xfrm>
            <a:off x="6307476" y="1711226"/>
            <a:ext cx="453617" cy="453628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2191" y="1835944"/>
            <a:ext cx="204088" cy="2040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7476" y="2285802"/>
            <a:ext cx="507153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Auction Management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07476" y="2594570"/>
            <a:ext cx="507153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Administrators create and manage auction items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3084413"/>
            <a:ext cx="5373851" cy="1403449"/>
          </a:xfrm>
          <a:prstGeom prst="roundRect">
            <a:avLst>
              <a:gd name="adj" fmla="val 1616"/>
            </a:avLst>
          </a:prstGeom>
          <a:solidFill>
            <a:srgbClr val="3B3C3E"/>
          </a:solidFill>
          <a:ln/>
        </p:spPr>
      </p:sp>
      <p:sp>
        <p:nvSpPr>
          <p:cNvPr id="14" name="Shape 10"/>
          <p:cNvSpPr/>
          <p:nvPr/>
        </p:nvSpPr>
        <p:spPr>
          <a:xfrm>
            <a:off x="812680" y="3235623"/>
            <a:ext cx="453617" cy="453628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395" y="3360341"/>
            <a:ext cx="204088" cy="2040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680" y="3810198"/>
            <a:ext cx="50714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Bidding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2680" y="4118967"/>
            <a:ext cx="50714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Users place bids on active auctions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56270" y="3084413"/>
            <a:ext cx="5373950" cy="1403449"/>
          </a:xfrm>
          <a:prstGeom prst="roundRect">
            <a:avLst>
              <a:gd name="adj" fmla="val 1616"/>
            </a:avLst>
          </a:prstGeom>
          <a:solidFill>
            <a:srgbClr val="3B3C3E"/>
          </a:solidFill>
          <a:ln/>
        </p:spPr>
      </p:sp>
      <p:sp>
        <p:nvSpPr>
          <p:cNvPr id="19" name="Shape 14"/>
          <p:cNvSpPr/>
          <p:nvPr/>
        </p:nvSpPr>
        <p:spPr>
          <a:xfrm>
            <a:off x="6307476" y="3235623"/>
            <a:ext cx="453617" cy="453628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2191" y="3360341"/>
            <a:ext cx="204088" cy="2040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7476" y="3810198"/>
            <a:ext cx="507153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Bid Validation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07476" y="4118967"/>
            <a:ext cx="507153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Every new bid satisfies minimum requirements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61475" y="4608810"/>
            <a:ext cx="5373851" cy="1403449"/>
          </a:xfrm>
          <a:prstGeom prst="roundRect">
            <a:avLst>
              <a:gd name="adj" fmla="val 1616"/>
            </a:avLst>
          </a:prstGeom>
          <a:solidFill>
            <a:srgbClr val="3B3C3E"/>
          </a:solidFill>
          <a:ln/>
        </p:spPr>
      </p:sp>
      <p:sp>
        <p:nvSpPr>
          <p:cNvPr id="24" name="Shape 18"/>
          <p:cNvSpPr/>
          <p:nvPr/>
        </p:nvSpPr>
        <p:spPr>
          <a:xfrm>
            <a:off x="812680" y="4760020"/>
            <a:ext cx="453617" cy="453628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7395" y="4884738"/>
            <a:ext cx="204088" cy="2040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2680" y="5334595"/>
            <a:ext cx="50714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Winner Selection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12680" y="5643364"/>
            <a:ext cx="50714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Automatically identify the highest bidder at close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56270" y="4608810"/>
            <a:ext cx="5373950" cy="1403449"/>
          </a:xfrm>
          <a:prstGeom prst="roundRect">
            <a:avLst>
              <a:gd name="adj" fmla="val 1616"/>
            </a:avLst>
          </a:prstGeom>
          <a:solidFill>
            <a:srgbClr val="3B3C3E"/>
          </a:solidFill>
          <a:ln/>
        </p:spPr>
      </p:sp>
      <p:sp>
        <p:nvSpPr>
          <p:cNvPr id="29" name="Shape 22"/>
          <p:cNvSpPr/>
          <p:nvPr/>
        </p:nvSpPr>
        <p:spPr>
          <a:xfrm>
            <a:off x="6307476" y="4760020"/>
            <a:ext cx="453617" cy="453628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2191" y="4884738"/>
            <a:ext cx="204088" cy="2040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7476" y="5334595"/>
            <a:ext cx="507153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Record Management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307476" y="5643364"/>
            <a:ext cx="507153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Maintain information about users, auctions and bids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11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Features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44737"/>
            <a:ext cx="5215303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👤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User Features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8843" y="2028924"/>
            <a:ext cx="269273" cy="269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4966" y="2023467"/>
            <a:ext cx="46318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 Registration &amp; Login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843" y="2914253"/>
            <a:ext cx="269273" cy="269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4966" y="2908796"/>
            <a:ext cx="46318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View &amp; Search Active Auctions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843" y="3799582"/>
            <a:ext cx="269273" cy="2692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4966" y="3794125"/>
            <a:ext cx="46318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Place Bids on Items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843" y="4684911"/>
            <a:ext cx="269273" cy="2692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44966" y="4679454"/>
            <a:ext cx="46318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View My Bids</a:t>
            </a:r>
            <a:endParaRPr lang="en-US" sz="1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8843" y="5570240"/>
            <a:ext cx="269273" cy="2692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44966" y="5564783"/>
            <a:ext cx="46318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View Auction Results</a:t>
            </a:r>
            <a:endParaRPr lang="en-US" sz="1750" dirty="0"/>
          </a:p>
        </p:txBody>
      </p:sp>
      <p:sp>
        <p:nvSpPr>
          <p:cNvPr id="14" name="Shape 7"/>
          <p:cNvSpPr/>
          <p:nvPr/>
        </p:nvSpPr>
        <p:spPr>
          <a:xfrm>
            <a:off x="6191889" y="1374180"/>
            <a:ext cx="5474059" cy="4926707"/>
          </a:xfrm>
          <a:prstGeom prst="roundRect">
            <a:avLst>
              <a:gd name="adj" fmla="val 547"/>
            </a:avLst>
          </a:prstGeom>
          <a:solidFill>
            <a:srgbClr val="1E3A8A"/>
          </a:solidFill>
          <a:ln/>
        </p:spPr>
      </p:sp>
      <p:sp>
        <p:nvSpPr>
          <p:cNvPr id="15" name="Text 8"/>
          <p:cNvSpPr/>
          <p:nvPr/>
        </p:nvSpPr>
        <p:spPr>
          <a:xfrm>
            <a:off x="6371371" y="1544737"/>
            <a:ext cx="5115095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Admin Features</a:t>
            </a:r>
            <a:endParaRPr lang="en-US" sz="17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8739" y="2028924"/>
            <a:ext cx="269273" cy="2692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954862" y="2023467"/>
            <a:ext cx="45316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Admin Login</a:t>
            </a:r>
            <a:endParaRPr lang="en-US" sz="17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38739" y="2914253"/>
            <a:ext cx="269273" cy="2692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954862" y="2908796"/>
            <a:ext cx="45316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Add Auction Items</a:t>
            </a:r>
            <a:endParaRPr lang="en-US" sz="17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38739" y="3799582"/>
            <a:ext cx="269273" cy="2692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954862" y="3794125"/>
            <a:ext cx="45316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View All Auctions</a:t>
            </a:r>
            <a:endParaRPr lang="en-US" sz="17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38739" y="4684911"/>
            <a:ext cx="269273" cy="26928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954862" y="4679454"/>
            <a:ext cx="45316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Close Auctions</a:t>
            </a:r>
            <a:endParaRPr lang="en-US" sz="17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38739" y="5570240"/>
            <a:ext cx="269273" cy="2692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954862" y="5564783"/>
            <a:ext cx="45316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View All Users &amp; Bids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66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Workflow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454" y="2832100"/>
            <a:ext cx="4523766" cy="16975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4586" y="4117542"/>
            <a:ext cx="682306" cy="13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Validate Bid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674694" y="4117542"/>
            <a:ext cx="682306" cy="13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Enter Bid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819475" y="4051821"/>
            <a:ext cx="682306" cy="2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Select Auction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964257" y="4117542"/>
            <a:ext cx="682306" cy="13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View Auctions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90345" y="4051821"/>
            <a:ext cx="682305" cy="2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Register/Login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27181" y="1223169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Admin Side Process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27181" y="1504950"/>
            <a:ext cx="491418" cy="737096"/>
          </a:xfrm>
          <a:prstGeom prst="roundRect">
            <a:avLst>
              <a:gd name="adj" fmla="val 50000"/>
            </a:avLst>
          </a:prstGeom>
          <a:solidFill>
            <a:srgbClr val="3B3C3E"/>
          </a:solidFill>
          <a:ln/>
        </p:spPr>
      </p:sp>
      <p:sp>
        <p:nvSpPr>
          <p:cNvPr id="11" name="Text 8"/>
          <p:cNvSpPr/>
          <p:nvPr/>
        </p:nvSpPr>
        <p:spPr>
          <a:xfrm>
            <a:off x="8080768" y="1758355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98369" y="1627783"/>
            <a:ext cx="30381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Admin Login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27181" y="2321818"/>
            <a:ext cx="491418" cy="737096"/>
          </a:xfrm>
          <a:prstGeom prst="roundRect">
            <a:avLst>
              <a:gd name="adj" fmla="val 50000"/>
            </a:avLst>
          </a:prstGeom>
          <a:solidFill>
            <a:srgbClr val="3B3C3E"/>
          </a:solidFill>
          <a:ln/>
        </p:spPr>
      </p:sp>
      <p:sp>
        <p:nvSpPr>
          <p:cNvPr id="14" name="Text 11"/>
          <p:cNvSpPr/>
          <p:nvPr/>
        </p:nvSpPr>
        <p:spPr>
          <a:xfrm>
            <a:off x="8080768" y="2575223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498369" y="2444651"/>
            <a:ext cx="30381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Create Auction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27181" y="3138686"/>
            <a:ext cx="491418" cy="737096"/>
          </a:xfrm>
          <a:prstGeom prst="roundRect">
            <a:avLst>
              <a:gd name="adj" fmla="val 50000"/>
            </a:avLst>
          </a:prstGeom>
          <a:solidFill>
            <a:srgbClr val="3B3C3E"/>
          </a:solidFill>
          <a:ln/>
        </p:spPr>
      </p:sp>
      <p:sp>
        <p:nvSpPr>
          <p:cNvPr id="17" name="Text 14"/>
          <p:cNvSpPr/>
          <p:nvPr/>
        </p:nvSpPr>
        <p:spPr>
          <a:xfrm>
            <a:off x="8080768" y="3392091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498369" y="3261519"/>
            <a:ext cx="30381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Manage Auction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27181" y="3955554"/>
            <a:ext cx="491418" cy="737096"/>
          </a:xfrm>
          <a:prstGeom prst="roundRect">
            <a:avLst>
              <a:gd name="adj" fmla="val 50000"/>
            </a:avLst>
          </a:prstGeom>
          <a:solidFill>
            <a:srgbClr val="3B3C3E"/>
          </a:solidFill>
          <a:ln/>
        </p:spPr>
      </p:sp>
      <p:sp>
        <p:nvSpPr>
          <p:cNvPr id="20" name="Text 17"/>
          <p:cNvSpPr/>
          <p:nvPr/>
        </p:nvSpPr>
        <p:spPr>
          <a:xfrm>
            <a:off x="8080768" y="4208959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498369" y="4078387"/>
            <a:ext cx="30381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Close Auction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27181" y="4772422"/>
            <a:ext cx="491418" cy="737096"/>
          </a:xfrm>
          <a:prstGeom prst="roundRect">
            <a:avLst>
              <a:gd name="adj" fmla="val 50000"/>
            </a:avLst>
          </a:prstGeom>
          <a:solidFill>
            <a:srgbClr val="3B3C3E"/>
          </a:solidFill>
          <a:ln/>
        </p:spPr>
      </p:sp>
      <p:sp>
        <p:nvSpPr>
          <p:cNvPr id="23" name="Text 20"/>
          <p:cNvSpPr/>
          <p:nvPr/>
        </p:nvSpPr>
        <p:spPr>
          <a:xfrm>
            <a:off x="8080768" y="5025827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498369" y="4895255"/>
            <a:ext cx="30381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Determine Winner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27181" y="5599311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183A13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011" y="5722838"/>
            <a:ext cx="153488" cy="12283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326328" y="5701804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Final Outcome: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Highest Valid Bidder →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AUCTION WINNER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🏆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669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Java OOP Design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511498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Core Classes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883767"/>
            <a:ext cx="2564443" cy="915392"/>
          </a:xfrm>
          <a:prstGeom prst="roundRect">
            <a:avLst>
              <a:gd name="adj" fmla="val 2478"/>
            </a:avLst>
          </a:prstGeom>
          <a:solidFill>
            <a:srgbClr val="1C1D1F"/>
          </a:solidFill>
          <a:ln w="19050">
            <a:solidFill>
              <a:srgbClr val="5455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730" y="2054027"/>
            <a:ext cx="22239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OnlineAuctionSystem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31730" y="2411214"/>
            <a:ext cx="222393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Main system controller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46862" y="1883767"/>
            <a:ext cx="2564542" cy="915392"/>
          </a:xfrm>
          <a:prstGeom prst="roundRect">
            <a:avLst>
              <a:gd name="adj" fmla="val 2478"/>
            </a:avLst>
          </a:prstGeom>
          <a:solidFill>
            <a:srgbClr val="1C1D1F"/>
          </a:solidFill>
          <a:ln w="19050">
            <a:solidFill>
              <a:srgbClr val="545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7117" y="2054027"/>
            <a:ext cx="2224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17117" y="2411214"/>
            <a:ext cx="222403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Represents regular users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1475" y="2920107"/>
            <a:ext cx="2564443" cy="1133078"/>
          </a:xfrm>
          <a:prstGeom prst="roundRect">
            <a:avLst>
              <a:gd name="adj" fmla="val 2002"/>
            </a:avLst>
          </a:prstGeom>
          <a:solidFill>
            <a:srgbClr val="1C1D1F"/>
          </a:solidFill>
          <a:ln w="19050">
            <a:solidFill>
              <a:srgbClr val="545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730" y="3090366"/>
            <a:ext cx="22239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Admin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1730" y="3447554"/>
            <a:ext cx="222393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Extends User, manages auctions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46862" y="2920107"/>
            <a:ext cx="2564542" cy="1133078"/>
          </a:xfrm>
          <a:prstGeom prst="roundRect">
            <a:avLst>
              <a:gd name="adj" fmla="val 2002"/>
            </a:avLst>
          </a:prstGeom>
          <a:solidFill>
            <a:srgbClr val="1C1D1F"/>
          </a:solidFill>
          <a:ln w="19050">
            <a:solidFill>
              <a:srgbClr val="545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7117" y="3090366"/>
            <a:ext cx="2224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Auction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17117" y="3447554"/>
            <a:ext cx="222403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Represents auction items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1475" y="4174133"/>
            <a:ext cx="5249930" cy="915392"/>
          </a:xfrm>
          <a:prstGeom prst="roundRect">
            <a:avLst>
              <a:gd name="adj" fmla="val 2478"/>
            </a:avLst>
          </a:prstGeom>
          <a:solidFill>
            <a:srgbClr val="1C1D1F"/>
          </a:solidFill>
          <a:ln w="19050">
            <a:solidFill>
              <a:srgbClr val="545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730" y="4344392"/>
            <a:ext cx="490941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1730" y="4701580"/>
            <a:ext cx="490941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Represents individual bids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86640" y="1511498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OOP Concepts Used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47798" y="1935659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Encapsulation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47798" y="2292846"/>
            <a:ext cx="478877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Private variables with getters and setters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47798" y="2804319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Classes &amp; Objects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47798" y="3161506"/>
            <a:ext cx="478877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Separate classes for users, auctions and bids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47798" y="3672979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Constructors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747798" y="4030166"/>
            <a:ext cx="478877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Initialize objects with required data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47798" y="4541639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ArrayList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47798" y="4898827"/>
            <a:ext cx="478877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Store users, auctions and bids dynamically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47798" y="5410299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747798" y="5767487"/>
            <a:ext cx="478877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Input and bidding info validated before processing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8166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Bidding Logic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311672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Step-by-Step Process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593453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61475" y="1789410"/>
            <a:ext cx="5284556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876227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Select an active auction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2240062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1475" y="2436019"/>
            <a:ext cx="5284556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2522835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displays current highest bid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475" y="2886670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1475" y="3082627"/>
            <a:ext cx="5284556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3169444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Minimum required bid is calculated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475" y="3533279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1475" y="3729236"/>
            <a:ext cx="5284556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816052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 enters a bid amount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475" y="4179888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1475" y="4375845"/>
            <a:ext cx="5284556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462661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validates the amount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1475" y="4826496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1475" y="5022453"/>
            <a:ext cx="5284556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510927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Valid bid stored; highest bid updated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1475" y="5473105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1475" y="5669062"/>
            <a:ext cx="5284556" cy="1270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5755878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Auction closes → Highest bidder wins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63612" y="1231900"/>
            <a:ext cx="5461359" cy="4897834"/>
          </a:xfrm>
          <a:prstGeom prst="roundRect">
            <a:avLst>
              <a:gd name="adj" fmla="val 376"/>
            </a:avLst>
          </a:prstGeom>
          <a:solidFill>
            <a:srgbClr val="1E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6286442" y="1311672"/>
            <a:ext cx="52157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Bidding Formula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70687" y="1665288"/>
            <a:ext cx="564104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Minimum Next Bid = Current Highest Bid + Bid Increment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86442" y="1593453"/>
            <a:ext cx="12700" cy="305792"/>
          </a:xfrm>
          <a:prstGeom prst="roundRect">
            <a:avLst>
              <a:gd name="adj" fmla="val 49999"/>
            </a:avLst>
          </a:prstGeom>
          <a:solidFill>
            <a:srgbClr val="9FA582"/>
          </a:solidFill>
          <a:ln/>
        </p:spPr>
      </p:sp>
      <p:sp>
        <p:nvSpPr>
          <p:cNvPr id="29" name="Text 27"/>
          <p:cNvSpPr/>
          <p:nvPr/>
        </p:nvSpPr>
        <p:spPr>
          <a:xfrm>
            <a:off x="6286442" y="1989038"/>
            <a:ext cx="52157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Example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442" y="2270820"/>
          <a:ext cx="9143771" cy="914400"/>
        </p:xfrm>
        <a:graphic>
          <a:graphicData uri="http://schemas.openxmlformats.org/drawingml/2006/table">
            <a:tbl>
              <a:tblPr/>
              <a:tblGrid>
                <a:gridCol w="2607850"/>
                <a:gridCol w="2607850"/>
              </a:tblGrid>
              <a:tr h="2736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Parameter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Value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Starting Price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₹45,000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Bid Increment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₹500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Current Highest Bid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₹46,000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Minimum Next Bid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₹46,500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₹46,500 or more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 Bid Accepted</a:t>
                      </a:r>
                      <a:endParaRPr lang="en-US" sz="9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6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₹46,000 or less</a:t>
                      </a:r>
                      <a:endParaRPr lang="en-US" sz="95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 Bid Rejected</a:t>
                      </a:r>
                      <a:endParaRPr lang="en-US" sz="9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6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726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Sample System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72183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Main Menu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583035"/>
            <a:ext cx="5273047" cy="2170113"/>
          </a:xfrm>
          <a:prstGeom prst="roundRect">
            <a:avLst>
              <a:gd name="adj" fmla="val 915"/>
            </a:avLst>
          </a:prstGeom>
          <a:solidFill>
            <a:srgbClr val="292A2C"/>
          </a:solidFill>
          <a:ln/>
        </p:spPr>
      </p:sp>
      <p:sp>
        <p:nvSpPr>
          <p:cNvPr id="5" name="Text 3"/>
          <p:cNvSpPr/>
          <p:nvPr/>
        </p:nvSpPr>
        <p:spPr>
          <a:xfrm>
            <a:off x="820221" y="1715294"/>
            <a:ext cx="4955555" cy="190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ONLINE AUCTION SYSTEM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 User Registration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 User Login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 Admin Login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 Exit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Enter your choice: _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3857327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Auction Result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168180"/>
            <a:ext cx="5273047" cy="1958380"/>
          </a:xfrm>
          <a:prstGeom prst="roundRect">
            <a:avLst>
              <a:gd name="adj" fmla="val 1013"/>
            </a:avLst>
          </a:prstGeom>
          <a:solidFill>
            <a:srgbClr val="292A2C"/>
          </a:solidFill>
          <a:ln/>
        </p:spPr>
      </p:sp>
      <p:sp>
        <p:nvSpPr>
          <p:cNvPr id="8" name="Text 6"/>
          <p:cNvSpPr/>
          <p:nvPr/>
        </p:nvSpPr>
        <p:spPr>
          <a:xfrm>
            <a:off x="820221" y="4300438"/>
            <a:ext cx="4955555" cy="169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AUCTION RESULT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       : Dell Inspiron 15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Winner     : Shritha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Winning Bid: ₹48,000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    : CLOSED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523" y="1272183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Active Auctions Display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523" y="1583035"/>
            <a:ext cx="5273047" cy="2593578"/>
          </a:xfrm>
          <a:prstGeom prst="roundRect">
            <a:avLst>
              <a:gd name="adj" fmla="val 765"/>
            </a:avLst>
          </a:prstGeom>
          <a:solidFill>
            <a:srgbClr val="292A2C"/>
          </a:solidFill>
          <a:ln/>
        </p:spPr>
      </p:sp>
      <p:sp>
        <p:nvSpPr>
          <p:cNvPr id="11" name="Text 9"/>
          <p:cNvSpPr/>
          <p:nvPr/>
        </p:nvSpPr>
        <p:spPr>
          <a:xfrm>
            <a:off x="6422269" y="1715294"/>
            <a:ext cx="4955555" cy="2329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ACTIVE AUCTIONS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Auction ID   : 5001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         : Dell Inspiron 15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Starting Price: ₹45,000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 High : ₹48,000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Highest Bidder: Shritha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      : ACTIVE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Enter Bid Amount: _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523" y="4280793"/>
            <a:ext cx="5273047" cy="592733"/>
          </a:xfrm>
          <a:prstGeom prst="roundRect">
            <a:avLst>
              <a:gd name="adj" fmla="val 3348"/>
            </a:avLst>
          </a:prstGeom>
          <a:solidFill>
            <a:srgbClr val="474A3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5778" y="4417616"/>
            <a:ext cx="165294" cy="1322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93328" y="4397177"/>
            <a:ext cx="471098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system validates every bid in real-time and automatically updates the highest bidder record.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415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Conclusion &amp; Future Scope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80846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Conclusion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227263"/>
            <a:ext cx="5226911" cy="150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Provides a simple digital auction platform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Makes bidding organized and efficient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Automatically tracks the highest bid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Reduces manual effort and recording errors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Demonstrates important Java OOP concepts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659" y="180846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Future Scope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309659" y="2246412"/>
            <a:ext cx="2536861" cy="605830"/>
          </a:xfrm>
          <a:prstGeom prst="roundRect">
            <a:avLst>
              <a:gd name="adj" fmla="val 4212"/>
            </a:avLst>
          </a:pr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6479715" y="2416473"/>
            <a:ext cx="21967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MySQL Database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999610" y="2246412"/>
            <a:ext cx="2536960" cy="605830"/>
          </a:xfrm>
          <a:prstGeom prst="roundRect">
            <a:avLst>
              <a:gd name="adj" fmla="val 4212"/>
            </a:avLst>
          </a:prstGeom>
          <a:solidFill>
            <a:srgbClr val="3B3C3E"/>
          </a:solidFill>
          <a:ln/>
        </p:spPr>
      </p:sp>
      <p:sp>
        <p:nvSpPr>
          <p:cNvPr id="9" name="Text 7"/>
          <p:cNvSpPr/>
          <p:nvPr/>
        </p:nvSpPr>
        <p:spPr>
          <a:xfrm>
            <a:off x="9169667" y="2416473"/>
            <a:ext cx="21968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JavaFX / Swing GUI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309659" y="3005336"/>
            <a:ext cx="2536861" cy="871538"/>
          </a:xfrm>
          <a:prstGeom prst="roundRect">
            <a:avLst>
              <a:gd name="adj" fmla="val 2928"/>
            </a:avLst>
          </a:prstGeom>
          <a:solidFill>
            <a:srgbClr val="3B3C3E"/>
          </a:solidFill>
          <a:ln/>
        </p:spPr>
      </p:sp>
      <p:sp>
        <p:nvSpPr>
          <p:cNvPr id="11" name="Text 9"/>
          <p:cNvSpPr/>
          <p:nvPr/>
        </p:nvSpPr>
        <p:spPr>
          <a:xfrm>
            <a:off x="6479715" y="3175397"/>
            <a:ext cx="21967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Online Payments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999610" y="3005336"/>
            <a:ext cx="2536960" cy="871538"/>
          </a:xfrm>
          <a:prstGeom prst="roundRect">
            <a:avLst>
              <a:gd name="adj" fmla="val 2928"/>
            </a:avLst>
          </a:prstGeom>
          <a:solidFill>
            <a:srgbClr val="3B3C3E"/>
          </a:solidFill>
          <a:ln/>
        </p:spPr>
      </p:sp>
      <p:sp>
        <p:nvSpPr>
          <p:cNvPr id="13" name="Text 11"/>
          <p:cNvSpPr/>
          <p:nvPr/>
        </p:nvSpPr>
        <p:spPr>
          <a:xfrm>
            <a:off x="9169667" y="3175397"/>
            <a:ext cx="2196847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Real-Time Notifications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309659" y="4029968"/>
            <a:ext cx="2536861" cy="605830"/>
          </a:xfrm>
          <a:prstGeom prst="roundRect">
            <a:avLst>
              <a:gd name="adj" fmla="val 4212"/>
            </a:avLst>
          </a:prstGeom>
          <a:solidFill>
            <a:srgbClr val="3B3C3E"/>
          </a:solidFill>
          <a:ln/>
        </p:spPr>
      </p:sp>
      <p:sp>
        <p:nvSpPr>
          <p:cNvPr id="15" name="Text 13"/>
          <p:cNvSpPr/>
          <p:nvPr/>
        </p:nvSpPr>
        <p:spPr>
          <a:xfrm>
            <a:off x="6479715" y="4200029"/>
            <a:ext cx="21967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Cloud Deployment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999610" y="4029968"/>
            <a:ext cx="2536960" cy="605830"/>
          </a:xfrm>
          <a:prstGeom prst="roundRect">
            <a:avLst>
              <a:gd name="adj" fmla="val 4212"/>
            </a:avLst>
          </a:prstGeom>
          <a:solidFill>
            <a:srgbClr val="3B3C3E"/>
          </a:solidFill>
          <a:ln/>
        </p:spPr>
      </p:sp>
      <p:sp>
        <p:nvSpPr>
          <p:cNvPr id="17" name="Text 15"/>
          <p:cNvSpPr/>
          <p:nvPr/>
        </p:nvSpPr>
        <p:spPr>
          <a:xfrm>
            <a:off x="9169667" y="4200029"/>
            <a:ext cx="21968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Mobile Application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1475" y="5037634"/>
            <a:ext cx="10868745" cy="43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THANK YOU </a:t>
            </a:r>
            <a:pPr algn="ctr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🙏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356682" y="5705177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Questions?</a:t>
            </a:r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Presented by </a:t>
            </a:r>
            <a:pPr algn="ctr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B82F6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Shritha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2026-10-01T05:09:54Z</dcterms:created>
  <dcterms:modified xsi:type="dcterms:W3CDTF">2026-10-01T05:09:54Z</dcterms:modified>
</cp:coreProperties>
</file>